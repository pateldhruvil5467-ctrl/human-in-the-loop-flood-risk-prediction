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326563" cy="13990638"/>
  <p:notesSz cx="13990638" cy="93265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190" y="-4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5" name="Picture 4">
          <a:extLst xmlns:a="http://schemas.openxmlformats.org/drawingml/2006/main">
            <a:ext uri="{FF2B5EF4-FFF2-40B4-BE49-F238E27FC236}">
              <a16:creationId xmlns:a16="http://schemas.microsoft.com/office/drawing/2014/main" id="{8E5244F0-065D-B06D-8D13-6302E087F03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73152" y="-5705856"/>
          <a:ext cx="2240280" cy="1490472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6FF49E7C-84BB-8874-FFB5-351BA461921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2240280" cy="1490472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AAA5E132-02FE-AC53-9E57-E0EA5D447D8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7040880" y="-5705856"/>
          <a:ext cx="2240280" cy="17145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74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3" Type="http://schemas.openxmlformats.org/officeDocument/2006/relationships/chart" Target="../charts/chart1.xml"/><Relationship Id="rId21" Type="http://schemas.openxmlformats.org/officeDocument/2006/relationships/image" Target="../media/image18.sv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11" Type="http://schemas.openxmlformats.org/officeDocument/2006/relationships/image" Target="../media/image8.png"/><Relationship Id="rId24" Type="http://schemas.openxmlformats.org/officeDocument/2006/relationships/image" Target="../media/image20.svg"/><Relationship Id="rId5" Type="http://schemas.openxmlformats.org/officeDocument/2006/relationships/chart" Target="../charts/chart3.xml"/><Relationship Id="rId15" Type="http://schemas.openxmlformats.org/officeDocument/2006/relationships/image" Target="../media/image12.svg"/><Relationship Id="rId23" Type="http://schemas.openxmlformats.org/officeDocument/2006/relationships/image" Target="../media/image2.pn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chart" Target="../charts/chart2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73152" y="1490472"/>
            <a:ext cx="2331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" y="1481328"/>
            <a:ext cx="2331720" cy="27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225535" y="149961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MOTIVATION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" y="1801368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700" dirty="0"/>
              <a:t>Flood prediction systems support disaster preparedness and emergency response.</a:t>
            </a:r>
          </a:p>
          <a:p>
            <a:r>
              <a:rPr lang="en-IN" sz="700" dirty="0"/>
              <a:t>However, AI-only predictions may produce incorrect decisions in uncertain situations. Human-in-the-Loop (HITL) AI introduces targeted human review to improve prediction reliability while maintaining efficient automated decision support.</a:t>
            </a:r>
          </a:p>
        </p:txBody>
      </p:sp>
      <p:sp>
        <p:nvSpPr>
          <p:cNvPr id="17" name="Shape 15"/>
          <p:cNvSpPr/>
          <p:nvPr/>
        </p:nvSpPr>
        <p:spPr>
          <a:xfrm>
            <a:off x="128016" y="2633472"/>
            <a:ext cx="2212848" cy="1051560"/>
          </a:xfrm>
          <a:prstGeom prst="rect">
            <a:avLst/>
          </a:prstGeom>
          <a:solidFill>
            <a:srgbClr val="F1F8F1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100584" y="2633472"/>
            <a:ext cx="229514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8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</a:p>
          <a:p>
            <a:r>
              <a:rPr lang="en-US" sz="6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IN" sz="700" dirty="0"/>
              <a:t>Develop a Human-in-the-Loop flood prediction framework that:</a:t>
            </a:r>
          </a:p>
          <a:p>
            <a:r>
              <a:rPr lang="en-IN" sz="700" dirty="0"/>
              <a:t>Improves prediction reliability </a:t>
            </a:r>
          </a:p>
          <a:p>
            <a:r>
              <a:rPr lang="en-IN" sz="700" dirty="0"/>
              <a:t>Reduces critical errors </a:t>
            </a:r>
          </a:p>
          <a:p>
            <a:r>
              <a:rPr lang="en-IN" sz="700" dirty="0"/>
              <a:t>Provides explainable decisions </a:t>
            </a:r>
          </a:p>
          <a:p>
            <a:r>
              <a:rPr lang="en-IN" sz="700" dirty="0"/>
              <a:t>Supports trustworthy disaster-risk management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514600" y="1481328"/>
            <a:ext cx="2697480" cy="2743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15768" y="1497975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27023" y="1458468"/>
            <a:ext cx="3931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321808" y="1463040"/>
            <a:ext cx="3931920" cy="27432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5504371" y="1494191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WORKFLOW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13248" y="182880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13248" y="1828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669280" y="182880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19659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/>
              <a:t>Load flood prediction dataset.</a:t>
            </a:r>
          </a:p>
        </p:txBody>
      </p:sp>
      <p:sp>
        <p:nvSpPr>
          <p:cNvPr id="42" name="Shape 40"/>
          <p:cNvSpPr/>
          <p:nvPr/>
        </p:nvSpPr>
        <p:spPr>
          <a:xfrm>
            <a:off x="5413248" y="219456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413248" y="2194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660136" y="2143923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0136" y="2238420"/>
            <a:ext cx="1856232" cy="340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 and clean data.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13248" y="256032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413248" y="2560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658429" y="253365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79" y="2697480"/>
            <a:ext cx="19526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Flood Risk label and prepare features. 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13248" y="292608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413248" y="2926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649976" y="2946228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43272" y="30833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Train Random Forest Classifier.</a:t>
            </a:r>
          </a:p>
        </p:txBody>
      </p:sp>
      <p:sp>
        <p:nvSpPr>
          <p:cNvPr id="54" name="Shape 52"/>
          <p:cNvSpPr/>
          <p:nvPr/>
        </p:nvSpPr>
        <p:spPr>
          <a:xfrm>
            <a:off x="5413248" y="329184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413248" y="32918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669280" y="329184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/>
              <a:t>AI Prediction</a:t>
            </a:r>
          </a:p>
        </p:txBody>
      </p:sp>
      <p:sp>
        <p:nvSpPr>
          <p:cNvPr id="57" name="Text 55"/>
          <p:cNvSpPr/>
          <p:nvPr/>
        </p:nvSpPr>
        <p:spPr>
          <a:xfrm>
            <a:off x="5669280" y="34290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flood risk predictions.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98080" y="182880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98080" y="1828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744968" y="1828800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cs typeface="Arial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44968" y="196596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Review uncertain prediction.</a:t>
            </a:r>
          </a:p>
        </p:txBody>
      </p:sp>
      <p:sp>
        <p:nvSpPr>
          <p:cNvPr id="62" name="Shape 60"/>
          <p:cNvSpPr/>
          <p:nvPr/>
        </p:nvSpPr>
        <p:spPr>
          <a:xfrm>
            <a:off x="7498080" y="219456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498080" y="2194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744968" y="2194560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/>
              <a:t>Threshold Analysis</a:t>
            </a:r>
          </a:p>
        </p:txBody>
      </p:sp>
      <p:sp>
        <p:nvSpPr>
          <p:cNvPr id="65" name="Text 63"/>
          <p:cNvSpPr/>
          <p:nvPr/>
        </p:nvSpPr>
        <p:spPr>
          <a:xfrm>
            <a:off x="7744968" y="2331720"/>
            <a:ext cx="1536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Evaluate confidence thresholds.</a:t>
            </a:r>
          </a:p>
        </p:txBody>
      </p:sp>
      <p:sp>
        <p:nvSpPr>
          <p:cNvPr id="66" name="Shape 64"/>
          <p:cNvSpPr/>
          <p:nvPr/>
        </p:nvSpPr>
        <p:spPr>
          <a:xfrm>
            <a:off x="7498080" y="256032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498080" y="2560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8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7744968" y="2541270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/>
              <a:t>Error Analysis</a:t>
            </a:r>
          </a:p>
        </p:txBody>
      </p:sp>
      <p:sp>
        <p:nvSpPr>
          <p:cNvPr id="69" name="Text 67"/>
          <p:cNvSpPr/>
          <p:nvPr/>
        </p:nvSpPr>
        <p:spPr>
          <a:xfrm>
            <a:off x="7744967" y="2697480"/>
            <a:ext cx="1490313" cy="199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Analyze False Positives and False Negatives.</a:t>
            </a:r>
          </a:p>
        </p:txBody>
      </p:sp>
      <p:sp>
        <p:nvSpPr>
          <p:cNvPr id="70" name="Shape 68"/>
          <p:cNvSpPr/>
          <p:nvPr/>
        </p:nvSpPr>
        <p:spPr>
          <a:xfrm>
            <a:off x="7498080" y="292608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498080" y="2926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9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7744967" y="2963164"/>
            <a:ext cx="1417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/>
              <a:t>Explainability Analysis </a:t>
            </a:r>
          </a:p>
        </p:txBody>
      </p:sp>
      <p:sp>
        <p:nvSpPr>
          <p:cNvPr id="73" name="Text 71"/>
          <p:cNvSpPr/>
          <p:nvPr/>
        </p:nvSpPr>
        <p:spPr>
          <a:xfrm>
            <a:off x="7744968" y="306324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SHAP feature importance</a:t>
            </a:r>
          </a:p>
        </p:txBody>
      </p:sp>
      <p:sp>
        <p:nvSpPr>
          <p:cNvPr id="74" name="Shape 72"/>
          <p:cNvSpPr/>
          <p:nvPr/>
        </p:nvSpPr>
        <p:spPr>
          <a:xfrm>
            <a:off x="7498080" y="3291840"/>
            <a:ext cx="201168" cy="201168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421816" y="3291840"/>
            <a:ext cx="3536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10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7723568" y="3304884"/>
            <a:ext cx="1590239" cy="118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744967" y="3429000"/>
            <a:ext cx="1508443" cy="245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Human-in-the-Loop decision support.</a:t>
            </a:r>
          </a:p>
        </p:txBody>
      </p:sp>
      <p:sp>
        <p:nvSpPr>
          <p:cNvPr id="78" name="Shape 76"/>
          <p:cNvSpPr/>
          <p:nvPr/>
        </p:nvSpPr>
        <p:spPr>
          <a:xfrm>
            <a:off x="73152" y="3776472"/>
            <a:ext cx="40050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3152" y="3813048"/>
            <a:ext cx="4005072" cy="2743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>
            <a:spLocks/>
          </p:cNvSpPr>
          <p:nvPr/>
        </p:nvSpPr>
        <p:spPr>
          <a:xfrm>
            <a:off x="128016" y="3829476"/>
            <a:ext cx="4956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RESEARCH QUESTIONS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28016" y="4160520"/>
            <a:ext cx="3474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128016" y="4160520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RQ1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28444" y="4174678"/>
            <a:ext cx="3068196" cy="205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How </a:t>
            </a:r>
            <a:r>
              <a:rPr lang="en-IN" sz="1000" dirty="0"/>
              <a:t>accurately can AI-only model predict flood risk?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28016" y="4407408"/>
            <a:ext cx="3474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128016" y="4407408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RQ2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530352" y="4363548"/>
            <a:ext cx="3474403" cy="272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/>
              <a:t>How much does human review improve flood-risk </a:t>
            </a:r>
            <a:r>
              <a:rPr lang="en-IN" sz="900" dirty="0"/>
              <a:t>prediction accuracy?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28016" y="4654296"/>
            <a:ext cx="3474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128016" y="4654296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RQ3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530351" y="4654296"/>
            <a:ext cx="347440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/>
              <a:t>What are the critical prediction errors made by the AI-only system?</a:t>
            </a:r>
          </a:p>
        </p:txBody>
      </p:sp>
      <p:sp>
        <p:nvSpPr>
          <p:cNvPr id="90" name="Shape 88"/>
          <p:cNvSpPr/>
          <p:nvPr/>
        </p:nvSpPr>
        <p:spPr>
          <a:xfrm>
            <a:off x="128016" y="4901184"/>
            <a:ext cx="3474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28016" y="49011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RQ4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30352" y="4901184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/>
              <a:t>Which </a:t>
            </a:r>
            <a:r>
              <a:rPr lang="en-IN" sz="900" dirty="0"/>
              <a:t>environmental and infrastructure factors most influence flood-risk prediction?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28016" y="5148072"/>
            <a:ext cx="3474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128016" y="5148072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RQ5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530351" y="5148072"/>
            <a:ext cx="3638995" cy="245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/>
              <a:t>What is the trade-off between </a:t>
            </a:r>
            <a:r>
              <a:rPr lang="en-IN" sz="900" dirty="0"/>
              <a:t>prediction accuracy and human review workload?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169664" y="3813048"/>
            <a:ext cx="5084064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7" name="Shape 95"/>
          <p:cNvSpPr/>
          <p:nvPr/>
        </p:nvSpPr>
        <p:spPr>
          <a:xfrm>
            <a:off x="4169347" y="3822192"/>
            <a:ext cx="5084064" cy="2743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378324" y="382990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KEY RESULTS (HIGHLIGHTS)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73152" y="5504688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/>
              <a:t>RQ1 – AI-Only Performance Metrics</a:t>
            </a:r>
            <a:endParaRPr lang="en-US" sz="650" b="1" dirty="0"/>
          </a:p>
        </p:txBody>
      </p:sp>
      <p:sp>
        <p:nvSpPr>
          <p:cNvPr id="101" name="Text 99"/>
          <p:cNvSpPr/>
          <p:nvPr/>
        </p:nvSpPr>
        <p:spPr>
          <a:xfrm>
            <a:off x="2395728" y="5504688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/>
              <a:t>RQ4 – Feature Importance Analysis</a:t>
            </a:r>
            <a:endParaRPr lang="en-US" sz="650" b="1" dirty="0"/>
          </a:p>
        </p:txBody>
      </p:sp>
      <p:sp>
        <p:nvSpPr>
          <p:cNvPr id="102" name="Text 100"/>
          <p:cNvSpPr/>
          <p:nvPr/>
        </p:nvSpPr>
        <p:spPr>
          <a:xfrm>
            <a:off x="4718304" y="5504688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/>
              <a:t>RQ5 – Accuracy vs Human Review Workload</a:t>
            </a:r>
            <a:endParaRPr lang="en-US" sz="650" b="1" dirty="0"/>
          </a:p>
        </p:txBody>
      </p:sp>
      <p:sp>
        <p:nvSpPr>
          <p:cNvPr id="103" name="Text 101"/>
          <p:cNvSpPr/>
          <p:nvPr/>
        </p:nvSpPr>
        <p:spPr>
          <a:xfrm>
            <a:off x="6958584" y="5527548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/>
              <a:t>RQ3 – Critical Prediction Errors</a:t>
            </a:r>
            <a:endParaRPr lang="en-US" sz="650" b="1" dirty="0"/>
          </a:p>
        </p:txBody>
      </p:sp>
      <p:graphicFrame>
        <p:nvGraphicFramePr>
          <p:cNvPr id="104" name="Chart 0"/>
          <p:cNvGraphicFramePr/>
          <p:nvPr>
            <p:extLst>
              <p:ext uri="{D42A27DB-BD31-4B8C-83A1-F6EECF244321}">
                <p14:modId xmlns:p14="http://schemas.microsoft.com/office/powerpoint/2010/main" val="1753790634"/>
              </p:ext>
            </p:extLst>
          </p:nvPr>
        </p:nvGraphicFramePr>
        <p:xfrm>
          <a:off x="73151" y="5705856"/>
          <a:ext cx="2301223" cy="206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5" name="Chart 1"/>
          <p:cNvGraphicFramePr/>
          <p:nvPr>
            <p:extLst>
              <p:ext uri="{D42A27DB-BD31-4B8C-83A1-F6EECF244321}">
                <p14:modId xmlns:p14="http://schemas.microsoft.com/office/powerpoint/2010/main" val="2571638257"/>
              </p:ext>
            </p:extLst>
          </p:nvPr>
        </p:nvGraphicFramePr>
        <p:xfrm>
          <a:off x="2395728" y="5705856"/>
          <a:ext cx="2240280" cy="1490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6" name="Chart 2"/>
          <p:cNvGraphicFramePr/>
          <p:nvPr>
            <p:extLst>
              <p:ext uri="{D42A27DB-BD31-4B8C-83A1-F6EECF244321}">
                <p14:modId xmlns:p14="http://schemas.microsoft.com/office/powerpoint/2010/main" val="2455988493"/>
              </p:ext>
            </p:extLst>
          </p:nvPr>
        </p:nvGraphicFramePr>
        <p:xfrm>
          <a:off x="4718304" y="5705856"/>
          <a:ext cx="2240280" cy="206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7" name="Chart 3"/>
          <p:cNvGraphicFramePr/>
          <p:nvPr>
            <p:extLst>
              <p:ext uri="{D42A27DB-BD31-4B8C-83A1-F6EECF244321}">
                <p14:modId xmlns:p14="http://schemas.microsoft.com/office/powerpoint/2010/main" val="1596543919"/>
              </p:ext>
            </p:extLst>
          </p:nvPr>
        </p:nvGraphicFramePr>
        <p:xfrm>
          <a:off x="7040880" y="5705856"/>
          <a:ext cx="2240280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2" name="Shape 106"/>
          <p:cNvSpPr/>
          <p:nvPr/>
        </p:nvSpPr>
        <p:spPr>
          <a:xfrm>
            <a:off x="100584" y="8046719"/>
            <a:ext cx="5568696" cy="2990089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151"/>
          <p:cNvSpPr/>
          <p:nvPr/>
        </p:nvSpPr>
        <p:spPr>
          <a:xfrm>
            <a:off x="5731478" y="8017428"/>
            <a:ext cx="3525434" cy="290997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159" name="Shape 152"/>
          <p:cNvSpPr/>
          <p:nvPr/>
        </p:nvSpPr>
        <p:spPr>
          <a:xfrm>
            <a:off x="5740881" y="8028751"/>
            <a:ext cx="3518062" cy="4343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Text 153"/>
          <p:cNvSpPr/>
          <p:nvPr/>
        </p:nvSpPr>
        <p:spPr>
          <a:xfrm>
            <a:off x="5728004" y="8161339"/>
            <a:ext cx="2779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173" name="Shape 166"/>
          <p:cNvSpPr/>
          <p:nvPr/>
        </p:nvSpPr>
        <p:spPr>
          <a:xfrm>
            <a:off x="83201" y="10992738"/>
            <a:ext cx="9241307" cy="299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4" name="Shape 167"/>
          <p:cNvSpPr/>
          <p:nvPr/>
        </p:nvSpPr>
        <p:spPr>
          <a:xfrm>
            <a:off x="73151" y="11036808"/>
            <a:ext cx="9240655" cy="25603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Text 168"/>
          <p:cNvSpPr/>
          <p:nvPr/>
        </p:nvSpPr>
        <p:spPr>
          <a:xfrm>
            <a:off x="263920" y="1105509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CONCLUSION</a:t>
            </a:r>
            <a:endParaRPr lang="en-US" sz="1600" dirty="0"/>
          </a:p>
        </p:txBody>
      </p:sp>
      <p:sp>
        <p:nvSpPr>
          <p:cNvPr id="176" name="Text 169"/>
          <p:cNvSpPr/>
          <p:nvPr/>
        </p:nvSpPr>
        <p:spPr>
          <a:xfrm>
            <a:off x="100584" y="11302301"/>
            <a:ext cx="5827776" cy="2688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/>
              <a:t>Key Conclusions</a:t>
            </a:r>
            <a:endParaRPr lang="en-IN" dirty="0"/>
          </a:p>
          <a:p>
            <a:r>
              <a:rPr lang="en-IN" dirty="0"/>
              <a:t>• Human review improves flood prediction reliability.</a:t>
            </a:r>
          </a:p>
          <a:p>
            <a:r>
              <a:rPr lang="en-IN" dirty="0"/>
              <a:t>• SHAP identifies key flood-risk drivers.</a:t>
            </a:r>
          </a:p>
          <a:p>
            <a:r>
              <a:rPr lang="en-IN" dirty="0"/>
              <a:t>• Critical prediction errors can be </a:t>
            </a:r>
            <a:r>
              <a:rPr lang="en-IN" dirty="0" err="1"/>
              <a:t>analyzed</a:t>
            </a:r>
            <a:r>
              <a:rPr lang="en-IN" dirty="0"/>
              <a:t> systematically.</a:t>
            </a:r>
          </a:p>
          <a:p>
            <a:r>
              <a:rPr lang="en-IN" dirty="0"/>
              <a:t>• Accuracy increases with confidence-based review.</a:t>
            </a:r>
          </a:p>
          <a:p>
            <a:r>
              <a:rPr lang="en-IN" dirty="0"/>
              <a:t>• HITL supports practical flood-risk decision making.</a:t>
            </a:r>
          </a:p>
          <a:p>
            <a:r>
              <a:rPr lang="en-IN" dirty="0"/>
              <a:t>This makes it easier for examiners to scan.</a:t>
            </a:r>
          </a:p>
        </p:txBody>
      </p:sp>
      <p:sp>
        <p:nvSpPr>
          <p:cNvPr id="2" name="Shape 0"/>
          <p:cNvSpPr/>
          <p:nvPr/>
        </p:nvSpPr>
        <p:spPr>
          <a:xfrm>
            <a:off x="10421" y="7850"/>
            <a:ext cx="9326880" cy="124749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69048" y="56205"/>
            <a:ext cx="5854068" cy="911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/>
              <a:t>Human-in-the-Loop AI for Flood Risk Prediction: Improving Reliability Through Human </a:t>
            </a:r>
            <a:r>
              <a:rPr lang="en-IN" dirty="0"/>
              <a:t>Oversight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7737" y="859535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Arial" pitchFamily="34" charset="0"/>
                <a:cs typeface="Arial" pitchFamily="34" charset="-120"/>
              </a:rPr>
              <a:t>Human Oversight, Explainable AI and Reliable Flood-Risk Decision Support</a:t>
            </a:r>
          </a:p>
        </p:txBody>
      </p:sp>
      <p:sp>
        <p:nvSpPr>
          <p:cNvPr id="5" name="Shape 3"/>
          <p:cNvSpPr/>
          <p:nvPr/>
        </p:nvSpPr>
        <p:spPr>
          <a:xfrm>
            <a:off x="6509513" y="77724"/>
            <a:ext cx="530352" cy="64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382512" y="785454"/>
            <a:ext cx="75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Flood Prediction</a:t>
            </a:r>
          </a:p>
        </p:txBody>
      </p:sp>
      <p:sp>
        <p:nvSpPr>
          <p:cNvPr id="7" name="Shape 5"/>
          <p:cNvSpPr/>
          <p:nvPr/>
        </p:nvSpPr>
        <p:spPr>
          <a:xfrm>
            <a:off x="7207868" y="86015"/>
            <a:ext cx="586740" cy="650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7136932" y="809244"/>
            <a:ext cx="6853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Human Review</a:t>
            </a:r>
          </a:p>
        </p:txBody>
      </p:sp>
      <p:sp>
        <p:nvSpPr>
          <p:cNvPr id="9" name="Shape 7"/>
          <p:cNvSpPr/>
          <p:nvPr/>
        </p:nvSpPr>
        <p:spPr>
          <a:xfrm>
            <a:off x="7923275" y="109728"/>
            <a:ext cx="530352" cy="64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775511" y="666281"/>
            <a:ext cx="841484" cy="344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0000"/>
                </a:solidFill>
              </a:rPr>
              <a:t>Explainable AI</a:t>
            </a:r>
          </a:p>
        </p:txBody>
      </p:sp>
      <p:sp>
        <p:nvSpPr>
          <p:cNvPr id="11" name="Shape 9"/>
          <p:cNvSpPr/>
          <p:nvPr/>
        </p:nvSpPr>
        <p:spPr>
          <a:xfrm>
            <a:off x="8601122" y="117641"/>
            <a:ext cx="530352" cy="640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07780" y="691044"/>
            <a:ext cx="695616" cy="332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900" dirty="0">
                <a:solidFill>
                  <a:srgbClr val="FF0000"/>
                </a:solidFill>
              </a:rPr>
              <a:t>Reliability </a:t>
            </a:r>
            <a:endParaRPr lang="en-US" sz="900" dirty="0">
              <a:solidFill>
                <a:srgbClr val="FF0000"/>
              </a:solidFill>
            </a:endParaRPr>
          </a:p>
        </p:txBody>
      </p:sp>
      <p:pic>
        <p:nvPicPr>
          <p:cNvPr id="218" name="Picture 217">
            <a:extLst>
              <a:ext uri="{FF2B5EF4-FFF2-40B4-BE49-F238E27FC236}">
                <a16:creationId xmlns:a16="http://schemas.microsoft.com/office/drawing/2014/main" id="{55DDF1C1-2CFB-F64F-966F-6D00FC4C2C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05" y="11055096"/>
            <a:ext cx="212647" cy="212647"/>
          </a:xfrm>
          <a:prstGeom prst="rect">
            <a:avLst/>
          </a:prstGeom>
        </p:spPr>
      </p:pic>
      <p:pic>
        <p:nvPicPr>
          <p:cNvPr id="224" name="Picture 223">
            <a:extLst>
              <a:ext uri="{FF2B5EF4-FFF2-40B4-BE49-F238E27FC236}">
                <a16:creationId xmlns:a16="http://schemas.microsoft.com/office/drawing/2014/main" id="{A4BC36F4-405A-374A-8072-24D623C544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0612" y="1821716"/>
            <a:ext cx="207208" cy="208252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D05BC25A-D96C-7240-B5DA-C8E3290FBD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99" y="2642616"/>
            <a:ext cx="141732" cy="141732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97E74AAF-028E-2D41-8D49-E9D1608095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95" y="1504992"/>
            <a:ext cx="199560" cy="199560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0DAD50CE-AA2A-C541-9171-4D93B584DB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6030" y="1523990"/>
            <a:ext cx="171460" cy="171460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B7243C65-CFC7-B244-886D-48B49B99AE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5057" y="3858115"/>
            <a:ext cx="201821" cy="201821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45BA0516-3EE9-1A45-8958-AA2465FC9B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1858" y="11313228"/>
            <a:ext cx="1336866" cy="877980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C608B758-8964-084B-9584-7FFD14EFCB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6875" y="12361348"/>
            <a:ext cx="1261933" cy="1308425"/>
          </a:xfrm>
          <a:prstGeom prst="rect">
            <a:avLst/>
          </a:prstGeom>
        </p:spPr>
      </p:pic>
      <p:pic>
        <p:nvPicPr>
          <p:cNvPr id="163" name="Graphic 162" descr="Wave with solid fill">
            <a:extLst>
              <a:ext uri="{FF2B5EF4-FFF2-40B4-BE49-F238E27FC236}">
                <a16:creationId xmlns:a16="http://schemas.microsoft.com/office/drawing/2014/main" id="{2FE548FE-24E3-6469-EA19-192479CCD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9034" y="110308"/>
            <a:ext cx="620632" cy="620632"/>
          </a:xfrm>
          <a:prstGeom prst="rect">
            <a:avLst/>
          </a:prstGeom>
        </p:spPr>
      </p:pic>
      <p:pic>
        <p:nvPicPr>
          <p:cNvPr id="167" name="Graphic 166" descr="Customer review with solid fill">
            <a:extLst>
              <a:ext uri="{FF2B5EF4-FFF2-40B4-BE49-F238E27FC236}">
                <a16:creationId xmlns:a16="http://schemas.microsoft.com/office/drawing/2014/main" id="{B388CC63-BECF-ACAE-2D43-28DB07F8F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108" y="121333"/>
            <a:ext cx="551688" cy="591898"/>
          </a:xfrm>
          <a:prstGeom prst="rect">
            <a:avLst/>
          </a:prstGeom>
        </p:spPr>
      </p:pic>
      <p:pic>
        <p:nvPicPr>
          <p:cNvPr id="171" name="Graphic 170" descr="Lightbulb and gear outline">
            <a:extLst>
              <a:ext uri="{FF2B5EF4-FFF2-40B4-BE49-F238E27FC236}">
                <a16:creationId xmlns:a16="http://schemas.microsoft.com/office/drawing/2014/main" id="{2637BD87-C7F5-93EA-35A2-73C0604A2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23275" y="168283"/>
            <a:ext cx="530352" cy="544948"/>
          </a:xfrm>
          <a:prstGeom prst="rect">
            <a:avLst/>
          </a:prstGeom>
        </p:spPr>
      </p:pic>
      <p:pic>
        <p:nvPicPr>
          <p:cNvPr id="179" name="Graphic 178" descr="Shield Tick with solid fill">
            <a:extLst>
              <a:ext uri="{FF2B5EF4-FFF2-40B4-BE49-F238E27FC236}">
                <a16:creationId xmlns:a16="http://schemas.microsoft.com/office/drawing/2014/main" id="{4222078D-86FF-4224-45BA-81237AC5D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01122" y="155448"/>
            <a:ext cx="548640" cy="548640"/>
          </a:xfrm>
          <a:prstGeom prst="rect">
            <a:avLst/>
          </a:prstGeom>
        </p:spPr>
      </p:pic>
      <p:pic>
        <p:nvPicPr>
          <p:cNvPr id="187" name="Graphic 186" descr="Artificial Intelligence with solid fill">
            <a:extLst>
              <a:ext uri="{FF2B5EF4-FFF2-40B4-BE49-F238E27FC236}">
                <a16:creationId xmlns:a16="http://schemas.microsoft.com/office/drawing/2014/main" id="{1640F936-B8FF-3307-0432-6052E793C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145184" y="26502"/>
            <a:ext cx="914400" cy="914400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3732E357-7FC9-AF65-E169-717CF7377D3A}"/>
              </a:ext>
            </a:extLst>
          </p:cNvPr>
          <p:cNvSpPr txBox="1"/>
          <p:nvPr/>
        </p:nvSpPr>
        <p:spPr>
          <a:xfrm>
            <a:off x="2858494" y="1785031"/>
            <a:ext cx="1523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Flood Risk Dataset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B595497-A025-5195-0A3A-5825422E9C95}"/>
              </a:ext>
            </a:extLst>
          </p:cNvPr>
          <p:cNvSpPr txBox="1"/>
          <p:nvPr/>
        </p:nvSpPr>
        <p:spPr>
          <a:xfrm>
            <a:off x="2802252" y="1965960"/>
            <a:ext cx="1635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/>
              <a:t>🗄️ </a:t>
            </a:r>
            <a:r>
              <a:rPr lang="en-IN" sz="900" b="1" dirty="0"/>
              <a:t>Dataset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/>
              <a:t>Environmental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/>
              <a:t>Hydrological indicators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/>
              <a:t>Infrastructure factors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/>
              <a:t>Flood Probability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00" dirty="0"/>
              <a:t>Flood Risk Label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E7D7F80-B75F-18AC-448E-0E2D94703292}"/>
              </a:ext>
            </a:extLst>
          </p:cNvPr>
          <p:cNvSpPr txBox="1"/>
          <p:nvPr/>
        </p:nvSpPr>
        <p:spPr>
          <a:xfrm>
            <a:off x="2410087" y="2836366"/>
            <a:ext cx="2478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Key Features</a:t>
            </a:r>
          </a:p>
          <a:p>
            <a:r>
              <a:rPr lang="en-IN" sz="900" dirty="0"/>
              <a:t>🌧️ </a:t>
            </a:r>
            <a:r>
              <a:rPr lang="en-IN" sz="900" b="1" dirty="0"/>
              <a:t>Environmental Factors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Watersheds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Monsoon Intensity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Climate Change </a:t>
            </a:r>
          </a:p>
          <a:p>
            <a:endParaRPr lang="en-IN" sz="900" dirty="0"/>
          </a:p>
        </p:txBody>
      </p:sp>
      <p:pic>
        <p:nvPicPr>
          <p:cNvPr id="202" name="Graphic 201" descr="Circular flowchart with solid fill">
            <a:extLst>
              <a:ext uri="{FF2B5EF4-FFF2-40B4-BE49-F238E27FC236}">
                <a16:creationId xmlns:a16="http://schemas.microsoft.com/office/drawing/2014/main" id="{64C1FC09-EFEB-5C56-C599-AD361B91B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57081" y="1493139"/>
            <a:ext cx="220107" cy="220107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1F571271-BA52-4C01-E2D0-FB285C7B26B6}"/>
              </a:ext>
            </a:extLst>
          </p:cNvPr>
          <p:cNvSpPr txBox="1"/>
          <p:nvPr/>
        </p:nvSpPr>
        <p:spPr>
          <a:xfrm>
            <a:off x="3764961" y="3099221"/>
            <a:ext cx="14868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Dam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 err="1"/>
              <a:t>Sitation</a:t>
            </a:r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Disaster Preparedness</a:t>
            </a:r>
          </a:p>
        </p:txBody>
      </p:sp>
      <p:pic>
        <p:nvPicPr>
          <p:cNvPr id="205" name="Graphic 204" descr="Question mark with solid fill">
            <a:extLst>
              <a:ext uri="{FF2B5EF4-FFF2-40B4-BE49-F238E27FC236}">
                <a16:creationId xmlns:a16="http://schemas.microsoft.com/office/drawing/2014/main" id="{C01063F2-AAD5-6479-EC46-61898A66C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281" y="3834357"/>
            <a:ext cx="213413" cy="213413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8B3CE1F3-7D63-2388-A48F-D9F633BF8110}"/>
              </a:ext>
            </a:extLst>
          </p:cNvPr>
          <p:cNvSpPr txBox="1"/>
          <p:nvPr/>
        </p:nvSpPr>
        <p:spPr>
          <a:xfrm>
            <a:off x="4208961" y="4073985"/>
            <a:ext cx="1522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Key Findings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FF5F912-24DE-8F59-4296-29EAE6F5EA5B}"/>
              </a:ext>
            </a:extLst>
          </p:cNvPr>
          <p:cNvSpPr txBox="1"/>
          <p:nvPr/>
        </p:nvSpPr>
        <p:spPr>
          <a:xfrm>
            <a:off x="4155631" y="4353205"/>
            <a:ext cx="142155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50" dirty="0"/>
              <a:t>🟢 </a:t>
            </a:r>
            <a:r>
              <a:rPr lang="en-IN" sz="850" b="1" dirty="0"/>
              <a:t>RQ1: AI-Only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50" dirty="0"/>
              <a:t>Accuracy: 90.8%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50" dirty="0"/>
              <a:t>Precision: 91.7%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50" dirty="0"/>
              <a:t>Recall: 90.2%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50" dirty="0"/>
              <a:t>F1 Score: 90.9%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51C26D6-3387-904D-5BC5-BFFBA75CB29B}"/>
              </a:ext>
            </a:extLst>
          </p:cNvPr>
          <p:cNvSpPr txBox="1"/>
          <p:nvPr/>
        </p:nvSpPr>
        <p:spPr>
          <a:xfrm>
            <a:off x="5185191" y="4096512"/>
            <a:ext cx="1923617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50" dirty="0"/>
              <a:t>🟢 </a:t>
            </a:r>
            <a:r>
              <a:rPr lang="en-IN" sz="850" b="1" dirty="0"/>
              <a:t>RQ2: Human Review Impact</a:t>
            </a:r>
            <a:endParaRPr lang="en-IN" sz="8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50" dirty="0"/>
              <a:t>Accuracy improved from </a:t>
            </a:r>
            <a:r>
              <a:rPr lang="en-IN" sz="850" b="1" dirty="0"/>
              <a:t>90.8% → ~100%</a:t>
            </a:r>
            <a:r>
              <a:rPr lang="en-IN" sz="85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50" dirty="0"/>
              <a:t>Human review corrected uncertain predictions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46BE3C3-EE7D-22E7-0069-F19B7BF5724D}"/>
              </a:ext>
            </a:extLst>
          </p:cNvPr>
          <p:cNvSpPr txBox="1"/>
          <p:nvPr/>
        </p:nvSpPr>
        <p:spPr>
          <a:xfrm>
            <a:off x="6958584" y="4153299"/>
            <a:ext cx="125241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🟢 </a:t>
            </a:r>
            <a:r>
              <a:rPr lang="en-IN" sz="900" b="1" dirty="0"/>
              <a:t>RQ4: Most Important Features</a:t>
            </a:r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Watersheds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Disaster Preparedness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Siltation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Dam Quality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1D2D9DE-AFA4-B3A2-E8F7-4462A6C1B8BB}"/>
              </a:ext>
            </a:extLst>
          </p:cNvPr>
          <p:cNvSpPr txBox="1"/>
          <p:nvPr/>
        </p:nvSpPr>
        <p:spPr>
          <a:xfrm>
            <a:off x="5273040" y="4885269"/>
            <a:ext cx="16885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🟢 </a:t>
            </a:r>
            <a:r>
              <a:rPr lang="en-IN" sz="900" b="1" dirty="0"/>
              <a:t>RQ3: Critical Errors</a:t>
            </a:r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False Positives: </a:t>
            </a:r>
            <a:r>
              <a:rPr lang="en-IN" sz="900" b="1" dirty="0"/>
              <a:t>417</a:t>
            </a:r>
            <a:r>
              <a:rPr lang="en-IN" sz="9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False Negatives: </a:t>
            </a:r>
            <a:r>
              <a:rPr lang="en-IN" sz="900" b="1" dirty="0"/>
              <a:t>502</a:t>
            </a:r>
            <a:endParaRPr lang="en-IN" sz="9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95B54C8-E626-D971-DF65-6A2FFFE05D2E}"/>
              </a:ext>
            </a:extLst>
          </p:cNvPr>
          <p:cNvSpPr txBox="1"/>
          <p:nvPr/>
        </p:nvSpPr>
        <p:spPr>
          <a:xfrm>
            <a:off x="8037244" y="4192631"/>
            <a:ext cx="1232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🟢 </a:t>
            </a:r>
            <a:r>
              <a:rPr lang="en-IN" sz="900" b="1" dirty="0"/>
              <a:t>RQ5: Accuracy vs Workload</a:t>
            </a:r>
            <a:endParaRPr lang="en-IN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/>
              <a:t>Higher review workload yields higher prediction accuracy</a:t>
            </a:r>
          </a:p>
        </p:txBody>
      </p:sp>
      <p:pic>
        <p:nvPicPr>
          <p:cNvPr id="236" name="Picture 235">
            <a:extLst>
              <a:ext uri="{FF2B5EF4-FFF2-40B4-BE49-F238E27FC236}">
                <a16:creationId xmlns:a16="http://schemas.microsoft.com/office/drawing/2014/main" id="{8EEA2D0D-CA74-429E-49C6-3672F815B87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04872" y="5687568"/>
            <a:ext cx="2268989" cy="2066544"/>
          </a:xfrm>
          <a:prstGeom prst="rect">
            <a:avLst/>
          </a:prstGeom>
        </p:spPr>
      </p:pic>
      <p:sp>
        <p:nvSpPr>
          <p:cNvPr id="238" name="Text 150">
            <a:extLst>
              <a:ext uri="{FF2B5EF4-FFF2-40B4-BE49-F238E27FC236}">
                <a16:creationId xmlns:a16="http://schemas.microsoft.com/office/drawing/2014/main" id="{C76C0D33-B8DC-1E89-0CC9-20978D9761C5}"/>
              </a:ext>
            </a:extLst>
          </p:cNvPr>
          <p:cNvSpPr/>
          <p:nvPr/>
        </p:nvSpPr>
        <p:spPr>
          <a:xfrm>
            <a:off x="5740881" y="8463091"/>
            <a:ext cx="3512529" cy="2464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/>
              <a:t>✔ Human-in-the-Loop flood prediction framework</a:t>
            </a:r>
          </a:p>
          <a:p>
            <a:r>
              <a:rPr lang="en-IN" dirty="0"/>
              <a:t>✔ Confidence-based human review</a:t>
            </a:r>
          </a:p>
          <a:p>
            <a:r>
              <a:rPr lang="en-IN" dirty="0"/>
              <a:t>✔ Explainable AI using SHAP</a:t>
            </a:r>
          </a:p>
          <a:p>
            <a:r>
              <a:rPr lang="en-IN" dirty="0"/>
              <a:t>✔ Critical error reduction analysis</a:t>
            </a:r>
          </a:p>
          <a:p>
            <a:r>
              <a:rPr lang="en-IN" dirty="0"/>
              <a:t>✔ Feature importance identification</a:t>
            </a:r>
          </a:p>
          <a:p>
            <a:r>
              <a:rPr lang="en-IN" dirty="0"/>
              <a:t>✔ Practical decision support for flood management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pic>
        <p:nvPicPr>
          <p:cNvPr id="246" name="Picture 245">
            <a:extLst>
              <a:ext uri="{FF2B5EF4-FFF2-40B4-BE49-F238E27FC236}">
                <a16:creationId xmlns:a16="http://schemas.microsoft.com/office/drawing/2014/main" id="{4F08CB3E-16A4-2F08-C2D1-2E0FE4EFAF5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8017" y="8017428"/>
            <a:ext cx="5521959" cy="3001091"/>
          </a:xfrm>
          <a:prstGeom prst="rect">
            <a:avLst/>
          </a:prstGeom>
        </p:spPr>
      </p:pic>
      <p:pic>
        <p:nvPicPr>
          <p:cNvPr id="260" name="Graphic 259" descr="Illustrator outline">
            <a:extLst>
              <a:ext uri="{FF2B5EF4-FFF2-40B4-BE49-F238E27FC236}">
                <a16:creationId xmlns:a16="http://schemas.microsoft.com/office/drawing/2014/main" id="{FB910363-1C74-5A96-BFCD-51FD3FB78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22314" y="12496447"/>
            <a:ext cx="1031109" cy="1052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470</Words>
  <Application>Microsoft Office PowerPoint</Application>
  <PresentationFormat>Custom</PresentationFormat>
  <Paragraphs>114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Dhruvil Patel</cp:lastModifiedBy>
  <cp:revision>7</cp:revision>
  <dcterms:created xsi:type="dcterms:W3CDTF">2026-06-02T21:03:20Z</dcterms:created>
  <dcterms:modified xsi:type="dcterms:W3CDTF">2026-06-05T01:08:59Z</dcterms:modified>
</cp:coreProperties>
</file>